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90" r:id="rId2"/>
    <p:sldId id="291" r:id="rId3"/>
    <p:sldId id="292" r:id="rId4"/>
    <p:sldId id="293" r:id="rId5"/>
    <p:sldId id="294" r:id="rId6"/>
    <p:sldId id="301" r:id="rId7"/>
    <p:sldId id="296" r:id="rId8"/>
    <p:sldId id="297" r:id="rId9"/>
    <p:sldId id="298" r:id="rId10"/>
    <p:sldId id="299" r:id="rId11"/>
    <p:sldId id="300" r:id="rId12"/>
    <p:sldId id="295" r:id="rId13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e" id="{57C8B40F-F360-4326-8328-CF1BBE953922}">
          <p14:sldIdLst>
            <p14:sldId id="290"/>
            <p14:sldId id="291"/>
            <p14:sldId id="292"/>
            <p14:sldId id="293"/>
            <p14:sldId id="294"/>
            <p14:sldId id="301"/>
            <p14:sldId id="296"/>
            <p14:sldId id="297"/>
            <p14:sldId id="298"/>
            <p14:sldId id="299"/>
            <p14:sldId id="300"/>
          </p14:sldIdLst>
        </p14:section>
        <p14:section name="Presentatie" id="{7DD08CC6-2B26-4483-98F3-3344F7813711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158"/>
    <a:srgbClr val="BCD2FF"/>
    <a:srgbClr val="E7E6E6"/>
    <a:srgbClr val="C9BEC0"/>
    <a:srgbClr val="9FB5B6"/>
    <a:srgbClr val="829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704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02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76CE9F8C-1656-D528-4D96-E70E00ECD7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2C6A97C3-BF6A-BA94-B29D-F8BFE3D284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92433-EB11-45DD-98F3-37F08CB289C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1D7915D-0664-11B9-C5B5-B8D689556F4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8253C22-14D2-321E-0F1C-1677015106B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0CC976-6A8E-424E-A1B7-0A1033B579D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74339EEE-E176-7947-8E00-F01126ED10E4}" type="datetimeFigureOut">
              <a:rPr lang="nl-NL" smtClean="0"/>
              <a:pPr/>
              <a:t>10-12-2025</a:t>
            </a:fld>
            <a:endParaRPr lang="nl-NL" dirty="0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 dirty="0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" pitchFamily="2" charset="77"/>
              </a:defRPr>
            </a:lvl1pPr>
          </a:lstStyle>
          <a:p>
            <a:fld id="{637B80C8-3308-6C4F-B1C5-C23743646DBC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52253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Zegelringen" descr="Afbeelding met cirkel, schermopname, astronomie, spiraal&#10;&#10;Door AI gegenereerde inhoud is mogelijk onjuist.">
            <a:extLst>
              <a:ext uri="{FF2B5EF4-FFF2-40B4-BE49-F238E27FC236}">
                <a16:creationId xmlns:a16="http://schemas.microsoft.com/office/drawing/2014/main" id="{A7C30CD9-56A2-3061-334C-CC08D2F4C83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709265" cy="6858000"/>
          </a:xfrm>
          <a:prstGeom prst="rect">
            <a:avLst/>
          </a:prstGeom>
        </p:spPr>
      </p:pic>
      <p:pic>
        <p:nvPicPr>
          <p:cNvPr id="27" name="Druppel met logo">
            <a:extLst>
              <a:ext uri="{FF2B5EF4-FFF2-40B4-BE49-F238E27FC236}">
                <a16:creationId xmlns:a16="http://schemas.microsoft.com/office/drawing/2014/main" id="{E0CC0575-4598-F485-8168-644E1078CAE1}"/>
              </a:ext>
            </a:extLst>
          </p:cNvPr>
          <p:cNvPicPr>
            <a:picLocks/>
          </p:cNvPicPr>
          <p:nvPr userDrawn="1"/>
        </p:nvPicPr>
        <p:blipFill>
          <a:blip r:embed="rId4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  <p:sp>
        <p:nvSpPr>
          <p:cNvPr id="28" name="Instructie">
            <a:extLst>
              <a:ext uri="{FF2B5EF4-FFF2-40B4-BE49-F238E27FC236}">
                <a16:creationId xmlns:a16="http://schemas.microsoft.com/office/drawing/2014/main" id="{765CD649-A938-4483-40C4-3EA138452144}"/>
              </a:ext>
            </a:extLst>
          </p:cNvPr>
          <p:cNvSpPr txBox="1">
            <a:spLocks/>
          </p:cNvSpPr>
          <p:nvPr userDrawn="1"/>
        </p:nvSpPr>
        <p:spPr>
          <a:xfrm>
            <a:off x="0" y="-428288"/>
            <a:ext cx="12192000" cy="3664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/>
        </p:spPr>
        <p:txBody>
          <a:bodyPr wrap="square" lIns="216000" tIns="72000" rIns="216000" bIns="108000" rtlCol="0">
            <a:spAutoFit/>
          </a:bodyPr>
          <a:lstStyle>
            <a:defPPr>
              <a:defRPr lang="nl-NL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lvl1pPr>
          </a:lstStyle>
          <a:p>
            <a:pPr lvl="0"/>
            <a:r>
              <a:rPr lang="nl-NL" dirty="0"/>
              <a:t>Achtergrondafbeelding plaatsen of veranderen? Druk met de rechtermuisknop op de dia en kies Achtergrond opmaken...  &gt; Opvulling met afbeelding of </a:t>
            </a:r>
            <a:r>
              <a:rPr lang="nl-NL" dirty="0" err="1"/>
              <a:t>bitmappatroon</a:t>
            </a:r>
            <a:r>
              <a:rPr lang="nl-NL" dirty="0"/>
              <a:t>.</a:t>
            </a:r>
            <a:endParaRPr lang="en-US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083B8E7-1D38-9C47-013C-F4992CD53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4991" y="978312"/>
            <a:ext cx="4066784" cy="3286799"/>
          </a:xfrm>
          <a:solidFill>
            <a:srgbClr val="001158"/>
          </a:solidFill>
        </p:spPr>
        <p:txBody>
          <a:bodyPr lIns="432000" rIns="360000" anchor="ctr" anchorCtr="0">
            <a:noAutofit/>
          </a:bodyPr>
          <a:lstStyle>
            <a:lvl1pPr algn="l">
              <a:defRPr sz="32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62633FD3-2632-D253-14D8-2DB594162B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035" y="3429000"/>
            <a:ext cx="3369628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681930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cirkel&#10;&#10;Door AI gegenereerde inhoud is mogelijk onjuist.">
            <a:extLst>
              <a:ext uri="{FF2B5EF4-FFF2-40B4-BE49-F238E27FC236}">
                <a16:creationId xmlns:a16="http://schemas.microsoft.com/office/drawing/2014/main" id="{05C80E11-D513-E966-CBC3-98D7A8C5E29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079"/>
            <a:ext cx="10087784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/>
          </p:nvPr>
        </p:nvSpPr>
        <p:spPr>
          <a:xfrm>
            <a:off x="7214991" y="978312"/>
            <a:ext cx="4066784" cy="3286799"/>
          </a:xfrm>
          <a:solidFill>
            <a:srgbClr val="001158"/>
          </a:solidFill>
        </p:spPr>
        <p:txBody>
          <a:bodyPr lIns="432000" rIns="360000" anchor="ctr" anchorCtr="0">
            <a:noAutofit/>
          </a:bodyPr>
          <a:lstStyle>
            <a:lvl1pPr algn="l">
              <a:defRPr sz="32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035" y="3429000"/>
            <a:ext cx="3369628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01E5F8AE-87B9-9092-E060-12A28E0B2C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  <p:sp>
        <p:nvSpPr>
          <p:cNvPr id="12" name="Instructie">
            <a:extLst>
              <a:ext uri="{FF2B5EF4-FFF2-40B4-BE49-F238E27FC236}">
                <a16:creationId xmlns:a16="http://schemas.microsoft.com/office/drawing/2014/main" id="{4AD96448-DA16-1379-2621-87486DF1B0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409238"/>
            <a:ext cx="12192000" cy="36642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effectLst/>
        </p:spPr>
        <p:txBody>
          <a:bodyPr wrap="square" lIns="216000" tIns="72000" rIns="216000" bIns="108000" rtlCol="0">
            <a:spAutoFit/>
          </a:bodyPr>
          <a:lstStyle>
            <a:defPPr>
              <a:defRPr lang="nl-NL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b="1"/>
            </a:lvl1pPr>
          </a:lstStyle>
          <a:p>
            <a:pPr lvl="0"/>
            <a:r>
              <a:rPr lang="nl-NL" dirty="0"/>
              <a:t>Achtergrondafbeelding plaatsen of veranderen? Druk met de rechtermuisknop op de dia en kies Achtergrond opmaken...  &gt; Opvulling met afbeelding of </a:t>
            </a:r>
            <a:r>
              <a:rPr lang="nl-NL" dirty="0" err="1"/>
              <a:t>bitmappatroon</a:t>
            </a:r>
            <a:r>
              <a:rPr lang="nl-NL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65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3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0415" y="4141700"/>
            <a:ext cx="6712642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913" y="1476456"/>
            <a:ext cx="9435647" cy="2334682"/>
          </a:xfrm>
          <a:solidFill>
            <a:srgbClr val="001158">
              <a:alpha val="0"/>
            </a:srgbClr>
          </a:solidFill>
        </p:spPr>
        <p:txBody>
          <a:bodyPr lIns="432000" rIns="360000" anchor="ctr" anchorCtr="0">
            <a:noAutofit/>
          </a:bodyPr>
          <a:lstStyle>
            <a:lvl1pPr algn="ctr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pic>
        <p:nvPicPr>
          <p:cNvPr id="6" name="Druppel met logo">
            <a:extLst>
              <a:ext uri="{FF2B5EF4-FFF2-40B4-BE49-F238E27FC236}">
                <a16:creationId xmlns:a16="http://schemas.microsoft.com/office/drawing/2014/main" id="{8C0203C1-B82B-E452-14BF-ABA928B0057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90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06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 descr="Afbeelding met cirkel, schermopname, astronomie, spiraal&#10;&#10;Door AI gegenereerde inhoud is mogelijk onjuist.">
            <a:extLst>
              <a:ext uri="{FF2B5EF4-FFF2-40B4-BE49-F238E27FC236}">
                <a16:creationId xmlns:a16="http://schemas.microsoft.com/office/drawing/2014/main" id="{2908ACFD-AF81-A056-8BE0-22218539558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70926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40490" y="1003111"/>
            <a:ext cx="6571397" cy="3108278"/>
          </a:xfrm>
          <a:solidFill>
            <a:srgbClr val="001158"/>
          </a:solidFill>
        </p:spPr>
        <p:txBody>
          <a:bodyPr lIns="432000" rIns="360000" anchor="ctr" anchorCtr="0">
            <a:noAutofit/>
          </a:bodyPr>
          <a:lstStyle>
            <a:lvl1pPr algn="l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7909" y="3354369"/>
            <a:ext cx="6712642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881EBF3-16AC-659B-8CC5-1FC02065C92A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26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07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4991" y="978312"/>
            <a:ext cx="4066784" cy="3286799"/>
          </a:xfrm>
          <a:solidFill>
            <a:schemeClr val="bg1"/>
          </a:solidFill>
        </p:spPr>
        <p:txBody>
          <a:bodyPr lIns="432000" rIns="360000" anchor="ctr" anchorCtr="0">
            <a:noAutofit/>
          </a:bodyPr>
          <a:lstStyle>
            <a:lvl1pPr algn="l">
              <a:defRPr sz="4000" b="1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97035" y="3429000"/>
            <a:ext cx="3369628" cy="757020"/>
          </a:xfrm>
        </p:spPr>
        <p:txBody>
          <a:bodyPr>
            <a:normAutofit/>
          </a:bodyPr>
          <a:lstStyle>
            <a:lvl1pPr marL="0" indent="0" algn="l">
              <a:buNone/>
              <a:defRPr sz="2200" b="0" i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57582B8-F9AD-C163-1746-34C618EFF17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0" y="4933055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57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0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472" y="2739443"/>
            <a:ext cx="4701338" cy="757020"/>
          </a:xfrm>
        </p:spPr>
        <p:txBody>
          <a:bodyPr>
            <a:normAutofit/>
          </a:bodyPr>
          <a:lstStyle>
            <a:lvl1pPr marL="0" indent="0" algn="l">
              <a:buNone/>
              <a:defRPr sz="2200" b="0" i="0">
                <a:solidFill>
                  <a:schemeClr val="bg1"/>
                </a:solidFill>
                <a:latin typeface="Vestula Pro" panose="020B0A03060302020204" pitchFamily="34" charset="0"/>
                <a:ea typeface="Nirmala UI Semilight" panose="020B0402040204020203" pitchFamily="34" charset="0"/>
                <a:cs typeface="Nirmala UI Semilight" panose="020B04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A8C9CA60-5F2B-5C73-D5D1-AAE268CC8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472" y="368504"/>
            <a:ext cx="4701339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rgbClr val="BCD2FF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5EB9261-83CA-EE7C-C957-7802C3E9CA1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rcRect/>
          <a:stretch/>
        </p:blipFill>
        <p:spPr>
          <a:xfrm>
            <a:off x="0" y="4932000"/>
            <a:ext cx="4252236" cy="192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8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 - 11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30989C73-BE72-9B8E-748B-D539A67AC6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6"/>
            <a:ext cx="6096000" cy="6858000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rgbClr val="BCD2FF"/>
          </a:solidFill>
        </p:spPr>
        <p:txBody>
          <a:bodyPr wrap="square" lIns="0" tIns="2700000" rIns="0" bIns="0" anchor="t" anchorCtr="1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Voeg eventueel</a:t>
            </a:r>
            <a:br>
              <a:rPr lang="nl-NL" dirty="0"/>
            </a:br>
            <a:r>
              <a:rPr lang="nl-NL" dirty="0"/>
              <a:t>afbeelding in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59549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dia - 11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30989C73-BE72-9B8E-748B-D539A67AC6F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6"/>
            <a:ext cx="6096000" cy="6858000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2700000" rIns="0" bIns="0" anchor="t" anchorCtr="1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Voeg eventueel</a:t>
            </a:r>
            <a:br>
              <a:rPr lang="nl-NL" dirty="0"/>
            </a:br>
            <a:r>
              <a:rPr lang="nl-NL" dirty="0"/>
              <a:t>afbeelding in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solidFill>
                  <a:srgbClr val="BCD2FF"/>
                </a:solidFill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3362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12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>
            <a:noAutofit/>
          </a:bodyPr>
          <a:lstStyle>
            <a:lvl1pPr marL="0" indent="0" algn="l">
              <a:buNone/>
              <a:defRPr sz="2200" b="0" i="0" baseline="0">
                <a:solidFill>
                  <a:srgbClr val="001158"/>
                </a:solidFill>
                <a:latin typeface="Vestula Pro" panose="020B0A030603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nl-NL" dirty="0"/>
          </a:p>
        </p:txBody>
      </p:sp>
      <p:sp>
        <p:nvSpPr>
          <p:cNvPr id="9" name="Tijdelijke aanduiding voor afbeelding 6">
            <a:extLst>
              <a:ext uri="{FF2B5EF4-FFF2-40B4-BE49-F238E27FC236}">
                <a16:creationId xmlns:a16="http://schemas.microsoft.com/office/drawing/2014/main" id="{4413C70C-4567-70BC-EE74-215FEACAB09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1686"/>
            <a:ext cx="6096000" cy="6858000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0" tIns="2700000" rIns="0" bIns="0" anchor="t" anchorCtr="1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nl-NL" dirty="0"/>
              <a:t>Voeg eventueel</a:t>
            </a:r>
            <a:br>
              <a:rPr lang="nl-NL" dirty="0"/>
            </a:br>
            <a:r>
              <a:rPr lang="nl-NL" dirty="0"/>
              <a:t>afbeelding in</a:t>
            </a:r>
          </a:p>
        </p:txBody>
      </p:sp>
    </p:spTree>
    <p:extLst>
      <p:ext uri="{BB962C8B-B14F-4D97-AF65-F5344CB8AC3E}">
        <p14:creationId xmlns:p14="http://schemas.microsoft.com/office/powerpoint/2010/main" val="218063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-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30989C73-BE72-9B8E-748B-D539A67AC6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12273"/>
            <a:ext cx="6118846" cy="6870273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C688360-AAFE-B0D3-DBB4-B0CFBDFA6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2305077"/>
          </a:xfrm>
          <a:noFill/>
        </p:spPr>
        <p:txBody>
          <a:bodyPr lIns="72000" rIns="360000" anchor="b" anchorCtr="0">
            <a:noAutofit/>
          </a:bodyPr>
          <a:lstStyle>
            <a:lvl1pPr algn="l">
              <a:defRPr sz="4000" b="1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713051C-B727-8990-F733-2E7ED20674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7" y="2739443"/>
            <a:ext cx="5212799" cy="75702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nl-NL" sz="2200" baseline="0" dirty="0">
                <a:latin typeface="Vestula Pro" panose="020B0A03060302020204" pitchFamily="34" charset="0"/>
              </a:defRPr>
            </a:lvl1pPr>
          </a:lstStyle>
          <a:p>
            <a:pPr marL="0" lv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271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6137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3C7B6FA-D4F6-9982-DC4D-88249182ED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06725" y="2036763"/>
            <a:ext cx="8346713" cy="4046537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68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-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086" y="1825625"/>
            <a:ext cx="8346714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6137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97690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olgpagina -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07086" y="1825625"/>
            <a:ext cx="8346714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Hier tekstblok van maken</a:t>
            </a:r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6137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89505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086" y="365125"/>
            <a:ext cx="8346713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007086" y="1825625"/>
            <a:ext cx="5124323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Hier tekstblok van maken</a:t>
            </a:r>
          </a:p>
        </p:txBody>
      </p:sp>
      <p:sp>
        <p:nvSpPr>
          <p:cNvPr id="18" name="Tijdelijke aanduiding voor afbeelding 17">
            <a:extLst>
              <a:ext uri="{FF2B5EF4-FFF2-40B4-BE49-F238E27FC236}">
                <a16:creationId xmlns:a16="http://schemas.microsoft.com/office/drawing/2014/main" id="{2EC20397-C339-4975-0412-4D44B10366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2159" y="1"/>
            <a:ext cx="3209949" cy="6864137"/>
          </a:xfrm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09949" h="6864137">
                <a:moveTo>
                  <a:pt x="346735" y="0"/>
                </a:moveTo>
                <a:lnTo>
                  <a:pt x="3059481" y="0"/>
                </a:lnTo>
                <a:cubicBezTo>
                  <a:pt x="2367071" y="1144534"/>
                  <a:pt x="1343267" y="3884665"/>
                  <a:pt x="3209949" y="6857999"/>
                </a:cubicBezTo>
                <a:lnTo>
                  <a:pt x="2779872" y="6857177"/>
                </a:lnTo>
                <a:lnTo>
                  <a:pt x="2613733" y="6579974"/>
                </a:lnTo>
                <a:cubicBezTo>
                  <a:pt x="977347" y="3714965"/>
                  <a:pt x="1959125" y="1108768"/>
                  <a:pt x="2629897" y="0"/>
                </a:cubicBezTo>
                <a:lnTo>
                  <a:pt x="230134" y="7000"/>
                </a:lnTo>
                <a:cubicBezTo>
                  <a:pt x="230134" y="6712"/>
                  <a:pt x="346735" y="288"/>
                  <a:pt x="346735" y="0"/>
                </a:cubicBezTo>
                <a:close/>
                <a:moveTo>
                  <a:pt x="0" y="6137"/>
                </a:moveTo>
                <a:lnTo>
                  <a:pt x="2620692" y="0"/>
                </a:lnTo>
                <a:cubicBezTo>
                  <a:pt x="1928282" y="1144534"/>
                  <a:pt x="904478" y="3884665"/>
                  <a:pt x="2771160" y="6857999"/>
                </a:cubicBezTo>
                <a:lnTo>
                  <a:pt x="2954" y="6864137"/>
                </a:lnTo>
                <a:cubicBezTo>
                  <a:pt x="1969" y="4584274"/>
                  <a:pt x="985" y="2286000"/>
                  <a:pt x="0" y="6137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/>
          <a:p>
            <a:endParaRPr lang="nl-NL" dirty="0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09019979-6A44-783E-3154-3E8966CE73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99438" y="1825625"/>
            <a:ext cx="3154362" cy="4351338"/>
          </a:xfrm>
          <a:solidFill>
            <a:srgbClr val="BCD2FF">
              <a:alpha val="48956"/>
            </a:srgbClr>
          </a:solidFill>
        </p:spPr>
        <p:txBody>
          <a:bodyPr lIns="216000" tIns="251999" rIns="251999" bIns="251999"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422679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98838D9D-2D9C-15B3-318A-CD1ECFCB7F5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42516" y="0"/>
            <a:ext cx="4949486" cy="6858000"/>
          </a:xfrm>
          <a:custGeom>
            <a:avLst/>
            <a:gdLst>
              <a:gd name="connsiteX0" fmla="*/ 0 w 4956580"/>
              <a:gd name="connsiteY0" fmla="*/ 0 h 6858000"/>
              <a:gd name="connsiteX1" fmla="*/ 4956580 w 4956580"/>
              <a:gd name="connsiteY1" fmla="*/ 0 h 6858000"/>
              <a:gd name="connsiteX2" fmla="*/ 4956580 w 4956580"/>
              <a:gd name="connsiteY2" fmla="*/ 6858000 h 6858000"/>
              <a:gd name="connsiteX3" fmla="*/ 0 w 4956580"/>
              <a:gd name="connsiteY3" fmla="*/ 6858000 h 6858000"/>
              <a:gd name="connsiteX4" fmla="*/ 0 w 4956580"/>
              <a:gd name="connsiteY4" fmla="*/ 0 h 6858000"/>
              <a:gd name="connsiteX0" fmla="*/ 1000317 w 4956580"/>
              <a:gd name="connsiteY0" fmla="*/ 0 h 6858000"/>
              <a:gd name="connsiteX1" fmla="*/ 4956580 w 4956580"/>
              <a:gd name="connsiteY1" fmla="*/ 0 h 6858000"/>
              <a:gd name="connsiteX2" fmla="*/ 4956580 w 4956580"/>
              <a:gd name="connsiteY2" fmla="*/ 6858000 h 6858000"/>
              <a:gd name="connsiteX3" fmla="*/ 0 w 4956580"/>
              <a:gd name="connsiteY3" fmla="*/ 6858000 h 6858000"/>
              <a:gd name="connsiteX4" fmla="*/ 1000317 w 4956580"/>
              <a:gd name="connsiteY4" fmla="*/ 0 h 6858000"/>
              <a:gd name="connsiteX0" fmla="*/ 0 w 3956263"/>
              <a:gd name="connsiteY0" fmla="*/ 0 h 6858000"/>
              <a:gd name="connsiteX1" fmla="*/ 3956263 w 3956263"/>
              <a:gd name="connsiteY1" fmla="*/ 0 h 6858000"/>
              <a:gd name="connsiteX2" fmla="*/ 3956263 w 3956263"/>
              <a:gd name="connsiteY2" fmla="*/ 6858000 h 6858000"/>
              <a:gd name="connsiteX3" fmla="*/ 49095 w 3956263"/>
              <a:gd name="connsiteY3" fmla="*/ 6858000 h 6858000"/>
              <a:gd name="connsiteX4" fmla="*/ 0 w 3956263"/>
              <a:gd name="connsiteY4" fmla="*/ 0 h 6858000"/>
              <a:gd name="connsiteX0" fmla="*/ 935630 w 4891893"/>
              <a:gd name="connsiteY0" fmla="*/ 0 h 6858000"/>
              <a:gd name="connsiteX1" fmla="*/ 4891893 w 4891893"/>
              <a:gd name="connsiteY1" fmla="*/ 0 h 6858000"/>
              <a:gd name="connsiteX2" fmla="*/ 4891893 w 4891893"/>
              <a:gd name="connsiteY2" fmla="*/ 6858000 h 6858000"/>
              <a:gd name="connsiteX3" fmla="*/ 984725 w 4891893"/>
              <a:gd name="connsiteY3" fmla="*/ 6858000 h 6858000"/>
              <a:gd name="connsiteX4" fmla="*/ 935630 w 4891893"/>
              <a:gd name="connsiteY4" fmla="*/ 0 h 6858000"/>
              <a:gd name="connsiteX0" fmla="*/ 1187030 w 5143293"/>
              <a:gd name="connsiteY0" fmla="*/ 0 h 6858000"/>
              <a:gd name="connsiteX1" fmla="*/ 5143293 w 5143293"/>
              <a:gd name="connsiteY1" fmla="*/ 0 h 6858000"/>
              <a:gd name="connsiteX2" fmla="*/ 5143293 w 5143293"/>
              <a:gd name="connsiteY2" fmla="*/ 6858000 h 6858000"/>
              <a:gd name="connsiteX3" fmla="*/ 1236125 w 5143293"/>
              <a:gd name="connsiteY3" fmla="*/ 6858000 h 6858000"/>
              <a:gd name="connsiteX4" fmla="*/ 1187030 w 5143293"/>
              <a:gd name="connsiteY4" fmla="*/ 0 h 6858000"/>
              <a:gd name="connsiteX0" fmla="*/ 993223 w 4949486"/>
              <a:gd name="connsiteY0" fmla="*/ 0 h 6858000"/>
              <a:gd name="connsiteX1" fmla="*/ 4949486 w 4949486"/>
              <a:gd name="connsiteY1" fmla="*/ 0 h 6858000"/>
              <a:gd name="connsiteX2" fmla="*/ 4949486 w 4949486"/>
              <a:gd name="connsiteY2" fmla="*/ 6858000 h 6858000"/>
              <a:gd name="connsiteX3" fmla="*/ 1042318 w 4949486"/>
              <a:gd name="connsiteY3" fmla="*/ 6858000 h 6858000"/>
              <a:gd name="connsiteX4" fmla="*/ 993223 w 494948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49486" h="6858000">
                <a:moveTo>
                  <a:pt x="993223" y="0"/>
                </a:moveTo>
                <a:lnTo>
                  <a:pt x="4949486" y="0"/>
                </a:lnTo>
                <a:lnTo>
                  <a:pt x="4949486" y="6858000"/>
                </a:lnTo>
                <a:lnTo>
                  <a:pt x="1042318" y="6858000"/>
                </a:lnTo>
                <a:cubicBezTo>
                  <a:pt x="-692383" y="4166963"/>
                  <a:pt x="58367" y="1635488"/>
                  <a:pt x="99322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>
            <a:normAutofit/>
          </a:bodyPr>
          <a:lstStyle>
            <a:lvl1pPr>
              <a:defRPr sz="1050"/>
            </a:lvl1pPr>
          </a:lstStyle>
          <a:p>
            <a:endParaRPr lang="nl-NL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928256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12591" y="1825625"/>
            <a:ext cx="5928257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Hier tekstblok van maken</a:t>
            </a:r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03059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103412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6291EDE7-7C3B-A663-266A-1499CE12F7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2591" y="1825625"/>
            <a:ext cx="10341208" cy="4351338"/>
          </a:xfrm>
        </p:spPr>
        <p:txBody>
          <a:bodyPr/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6828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lgpagina - 0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2592" y="365125"/>
            <a:ext cx="10341208" cy="1325563"/>
          </a:xfrm>
        </p:spPr>
        <p:txBody>
          <a:bodyPr/>
          <a:lstStyle>
            <a:lvl1pPr>
              <a:defRPr b="1" i="0">
                <a:latin typeface="Merriweather" pitchFamily="2" charset="77"/>
              </a:defRPr>
            </a:lvl1pPr>
          </a:lstStyle>
          <a:p>
            <a:r>
              <a:rPr lang="nl-NL" dirty="0"/>
              <a:t>Video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7B6DB267-AABE-0225-A758-99F1B4073528}"/>
              </a:ext>
            </a:extLst>
          </p:cNvPr>
          <p:cNvSpPr txBox="1"/>
          <p:nvPr userDrawn="1"/>
        </p:nvSpPr>
        <p:spPr>
          <a:xfrm>
            <a:off x="1012592" y="1905000"/>
            <a:ext cx="103412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Kies het </a:t>
            </a:r>
            <a:r>
              <a:rPr lang="nl-NL" sz="2000" b="0" i="1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Invoegen &gt; Media &gt;  Video</a:t>
            </a: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 in het menu.</a:t>
            </a:r>
            <a:b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</a:br>
            <a:endParaRPr lang="nl-NL" sz="2000" b="0" i="0" kern="1200" dirty="0">
              <a:solidFill>
                <a:srgbClr val="001158"/>
              </a:solidFill>
              <a:latin typeface="Merriweather" pitchFamily="2" charset="77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Klik op </a:t>
            </a:r>
            <a:r>
              <a:rPr lang="nl-NL" sz="2000" b="0" i="1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Dit apparaat…</a:t>
            </a: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 als je een video wilt gebruiken die op je eigen computer staat en selecteer het bestand.</a:t>
            </a:r>
            <a:b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</a:br>
            <a:endParaRPr lang="nl-NL" sz="2000" b="0" i="0" kern="1200" dirty="0">
              <a:solidFill>
                <a:srgbClr val="001158"/>
              </a:solidFill>
              <a:latin typeface="Merriweather" pitchFamily="2" charset="77"/>
              <a:ea typeface="+mn-ea"/>
              <a:cs typeface="+mn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Klik op </a:t>
            </a:r>
            <a:r>
              <a:rPr lang="nl-NL" sz="2000" b="0" i="1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Onlinevideo’s…</a:t>
            </a:r>
            <a:r>
              <a:rPr lang="nl-NL" sz="2000" b="0" i="0" kern="1200" dirty="0">
                <a:solidFill>
                  <a:srgbClr val="001158"/>
                </a:solidFill>
                <a:latin typeface="Merriweather" pitchFamily="2" charset="77"/>
                <a:ea typeface="+mn-ea"/>
                <a:cs typeface="+mn-cs"/>
              </a:rPr>
              <a:t> als je een video wilt tonen die op een online videoplatform staat en vul het adres in.</a:t>
            </a:r>
            <a:endParaRPr lang="en-US" sz="2000" b="0" i="0" kern="1200" dirty="0">
              <a:solidFill>
                <a:srgbClr val="001158"/>
              </a:solidFill>
              <a:latin typeface="Merriweather" pitchFamily="2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15352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34D4203-3468-03E9-7CA8-FE05BD7C5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EF2FECF-B4C3-CFF7-B2FE-C68ACD0D5E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028922F3-5308-9A78-B4BE-A31693112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964883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8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2A48E6AE-6CD5-F62F-E4C0-785FB492549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12" name="Tijdelijke aanduiding voor afbeelding 10">
            <a:extLst>
              <a:ext uri="{FF2B5EF4-FFF2-40B4-BE49-F238E27FC236}">
                <a16:creationId xmlns:a16="http://schemas.microsoft.com/office/drawing/2014/main" id="{67C05B3D-92B5-8EC3-9C00-7E2410A3D8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9" y="342900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31020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09">
    <p:bg>
      <p:bgPr>
        <a:solidFill>
          <a:srgbClr val="0011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F4A17952-3FAC-48DC-E887-1257351E8E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8E8A60DD-62F1-EBFE-2087-2CDEB9C02A0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8" y="2755900"/>
            <a:ext cx="5845791" cy="3429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DA3A380-204F-344C-5AFC-389EA8E0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F4A0DDD0-33B8-851D-5BC9-3DE1D73C6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Merriweather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Merriweather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Merriweather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784217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2591" y="3915367"/>
            <a:ext cx="3265982" cy="21767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10858686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10858687" cy="1954805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61835565-A9E6-954C-EA35-78C6DECAE3D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810081" y="3915367"/>
            <a:ext cx="3265982" cy="2176700"/>
          </a:xfrm>
        </p:spPr>
        <p:txBody>
          <a:bodyPr/>
          <a:lstStyle/>
          <a:p>
            <a:endParaRPr lang="nl-NL"/>
          </a:p>
        </p:txBody>
      </p:sp>
      <p:sp>
        <p:nvSpPr>
          <p:cNvPr id="10" name="Tijdelijke aanduiding voor afbeelding 10">
            <a:extLst>
              <a:ext uri="{FF2B5EF4-FFF2-40B4-BE49-F238E27FC236}">
                <a16:creationId xmlns:a16="http://schemas.microsoft.com/office/drawing/2014/main" id="{60EE0D81-3C5C-9919-0B8C-0616CB5E583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7570" y="3915367"/>
            <a:ext cx="3265982" cy="2176700"/>
          </a:xfrm>
        </p:spPr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35156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75279" y="365125"/>
            <a:ext cx="6096000" cy="4012442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15452" y="3166281"/>
            <a:ext cx="3848668" cy="2925786"/>
          </a:xfrm>
        </p:spPr>
        <p:txBody>
          <a:bodyPr/>
          <a:lstStyle/>
          <a:p>
            <a:endParaRPr lang="nl-NL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450792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2" y="1825625"/>
            <a:ext cx="4507928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98240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9211A429-036F-1729-8B5F-287CCD504E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9" y="3429000"/>
            <a:ext cx="2927445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80477" y="3429000"/>
            <a:ext cx="2927445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40750672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8909" y="0"/>
            <a:ext cx="66930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9211A429-036F-1729-8B5F-287CCD504E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8909" y="3428999"/>
            <a:ext cx="3303897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2" name="Tijdelijke aanduiding voor afbeelding 10">
            <a:extLst>
              <a:ext uri="{FF2B5EF4-FFF2-40B4-BE49-F238E27FC236}">
                <a16:creationId xmlns:a16="http://schemas.microsoft.com/office/drawing/2014/main" id="{F7BDAB06-3E9E-DFCF-FC9C-F8ED063600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02807" y="3429000"/>
            <a:ext cx="3405116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3" name="Tijdelijke aanduiding voor afbeelding 10">
            <a:extLst>
              <a:ext uri="{FF2B5EF4-FFF2-40B4-BE49-F238E27FC236}">
                <a16:creationId xmlns:a16="http://schemas.microsoft.com/office/drawing/2014/main" id="{1C5BF80F-4465-4B14-06B3-D47249486D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5492085" cy="6857999"/>
          </a:xfrm>
        </p:spPr>
        <p:txBody>
          <a:bodyPr/>
          <a:lstStyle/>
          <a:p>
            <a:endParaRPr lang="nl-NL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12" y="4455994"/>
            <a:ext cx="4316858" cy="1840813"/>
          </a:xfrm>
          <a:solidFill>
            <a:srgbClr val="001158"/>
          </a:solidFill>
        </p:spPr>
        <p:txBody>
          <a:bodyPr lIns="324000"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682755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3" name="Tijdelijke aanduiding voor afbeelding 10">
            <a:extLst>
              <a:ext uri="{FF2B5EF4-FFF2-40B4-BE49-F238E27FC236}">
                <a16:creationId xmlns:a16="http://schemas.microsoft.com/office/drawing/2014/main" id="{1C5BF80F-4465-4B14-06B3-D47249486D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" y="0"/>
            <a:ext cx="12191999" cy="685799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12" y="4455994"/>
            <a:ext cx="4316858" cy="1840813"/>
          </a:xfrm>
          <a:solidFill>
            <a:srgbClr val="001158"/>
          </a:solidFill>
        </p:spPr>
        <p:txBody>
          <a:bodyPr lIns="324000"/>
          <a:lstStyle>
            <a:lvl1pPr>
              <a:defRPr b="0" i="0">
                <a:solidFill>
                  <a:schemeClr val="bg1"/>
                </a:solidFill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810616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oelenboe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962088-BBD5-6AB5-760D-3688AF283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103412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7FC0D-7DB9-6A85-CC26-55CB498D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10341209" cy="1013109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9" name="Tijdelijke aanduiding voor afbeelding 8">
            <a:extLst>
              <a:ext uri="{FF2B5EF4-FFF2-40B4-BE49-F238E27FC236}">
                <a16:creationId xmlns:a16="http://schemas.microsoft.com/office/drawing/2014/main" id="{F6AE0A73-380C-1B8D-3CEF-D6613C869C3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2825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E32EF97-8820-5985-CB92-7052FF65B82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12592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1" name="Tijdelijke aanduiding voor afbeelding 8">
            <a:extLst>
              <a:ext uri="{FF2B5EF4-FFF2-40B4-BE49-F238E27FC236}">
                <a16:creationId xmlns:a16="http://schemas.microsoft.com/office/drawing/2014/main" id="{8EB5FB60-14D3-EFF5-4C47-19FD919C37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2350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881D2310-90DF-7BB1-D578-CFEF0F5C8EC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162117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3" name="Tijdelijke aanduiding voor afbeelding 8">
            <a:extLst>
              <a:ext uri="{FF2B5EF4-FFF2-40B4-BE49-F238E27FC236}">
                <a16:creationId xmlns:a16="http://schemas.microsoft.com/office/drawing/2014/main" id="{61D2B422-3E4E-776F-FFE9-45F0FB0002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05049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6AA74CF0-F98A-3CEB-EC1B-954CE770C4E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304816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5" name="Tijdelijke aanduiding voor afbeelding 8">
            <a:extLst>
              <a:ext uri="{FF2B5EF4-FFF2-40B4-BE49-F238E27FC236}">
                <a16:creationId xmlns:a16="http://schemas.microsoft.com/office/drawing/2014/main" id="{4601F334-92E3-372C-6493-E67C385F4E6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427273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18EADB28-CB7E-9CBE-DBCE-6BD7871B361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7427040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  <p:sp>
        <p:nvSpPr>
          <p:cNvPr id="17" name="Tijdelijke aanduiding voor afbeelding 8">
            <a:extLst>
              <a:ext uri="{FF2B5EF4-FFF2-40B4-BE49-F238E27FC236}">
                <a16:creationId xmlns:a16="http://schemas.microsoft.com/office/drawing/2014/main" id="{F91E3DBE-14E8-E017-7A1C-85F43E81568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549500" y="3049588"/>
            <a:ext cx="1812262" cy="2191152"/>
          </a:xfrm>
        </p:spPr>
        <p:txBody>
          <a:bodyPr/>
          <a:lstStyle>
            <a:lvl1pPr>
              <a:defRPr sz="800"/>
            </a:lvl1pPr>
          </a:lstStyle>
          <a:p>
            <a:endParaRPr lang="nl-NL" dirty="0"/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D2DA80AA-27FF-7EE7-681A-FFDE35B52313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549267" y="5394515"/>
            <a:ext cx="1812262" cy="1013109"/>
          </a:xfrm>
        </p:spPr>
        <p:txBody>
          <a:bodyPr/>
          <a:lstStyle>
            <a:lvl1pPr marL="0" indent="0">
              <a:buNone/>
              <a:defRPr sz="900" b="0" i="0">
                <a:latin typeface="Merriweather" pitchFamily="2" charset="77"/>
              </a:defRPr>
            </a:lvl1pPr>
            <a:lvl2pPr marL="457200" indent="0">
              <a:buNone/>
              <a:defRPr sz="800" b="0" i="0">
                <a:latin typeface="Merriweather" pitchFamily="2" charset="77"/>
              </a:defRPr>
            </a:lvl2pPr>
            <a:lvl3pPr marL="914400" indent="0">
              <a:buNone/>
              <a:defRPr sz="700" b="0" i="0">
                <a:latin typeface="Merriweather" pitchFamily="2" charset="77"/>
              </a:defRPr>
            </a:lvl3pPr>
            <a:lvl4pPr marL="1371600" indent="0">
              <a:buNone/>
              <a:defRPr sz="600" b="0" i="0">
                <a:latin typeface="Merriweather" pitchFamily="2" charset="77"/>
              </a:defRPr>
            </a:lvl4pPr>
            <a:lvl5pPr marL="1828800" indent="0">
              <a:buNone/>
              <a:defRPr sz="600" b="0" i="0">
                <a:latin typeface="Merriweather" pitchFamily="2" charset="77"/>
              </a:defRPr>
            </a:lvl5pPr>
          </a:lstStyle>
          <a:p>
            <a:pPr lvl="0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2812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jdelijke aanduiding voor afbeelding 10">
            <a:extLst>
              <a:ext uri="{FF2B5EF4-FFF2-40B4-BE49-F238E27FC236}">
                <a16:creationId xmlns:a16="http://schemas.microsoft.com/office/drawing/2014/main" id="{857F7FE0-63AB-A854-BA9D-0116B55634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6209" y="0"/>
            <a:ext cx="5845791" cy="3429000"/>
          </a:xfrm>
        </p:spPr>
        <p:txBody>
          <a:bodyPr/>
          <a:lstStyle/>
          <a:p>
            <a:endParaRPr lang="nl-NL"/>
          </a:p>
        </p:txBody>
      </p:sp>
      <p:sp>
        <p:nvSpPr>
          <p:cNvPr id="7" name="Tijdelijke aanduiding voor afbeelding 10">
            <a:extLst>
              <a:ext uri="{FF2B5EF4-FFF2-40B4-BE49-F238E27FC236}">
                <a16:creationId xmlns:a16="http://schemas.microsoft.com/office/drawing/2014/main" id="{9211A429-036F-1729-8B5F-287CCD504E3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46209" y="3429000"/>
            <a:ext cx="5845791" cy="342900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B1235EC-A615-0060-E37C-270414BD4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2592" y="365125"/>
            <a:ext cx="5083408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3630B0C-D7B5-B04F-3CAD-05E82470B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91" y="1825625"/>
            <a:ext cx="5083409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190178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gpagina - 17">
    <p:bg>
      <p:bgPr>
        <a:solidFill>
          <a:srgbClr val="BCD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dianummer 5" hidden="1">
            <a:extLst>
              <a:ext uri="{FF2B5EF4-FFF2-40B4-BE49-F238E27FC236}">
                <a16:creationId xmlns:a16="http://schemas.microsoft.com/office/drawing/2014/main" id="{ACADC35D-191F-A041-3DDA-4D52998AD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5978" y="6356350"/>
            <a:ext cx="417821" cy="365125"/>
          </a:xfrm>
        </p:spPr>
        <p:txBody>
          <a:bodyPr/>
          <a:lstStyle>
            <a:lvl1pPr>
              <a:defRPr b="0" i="0">
                <a:solidFill>
                  <a:srgbClr val="001158"/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9D022C3-22E9-7621-4877-5C922025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4FEBD01F-6CB2-0540-A1B8-9A6A3537A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8" name="Tijdelijke aanduiding voor inhoud 3">
            <a:extLst>
              <a:ext uri="{FF2B5EF4-FFF2-40B4-BE49-F238E27FC236}">
                <a16:creationId xmlns:a16="http://schemas.microsoft.com/office/drawing/2014/main" id="{21CA3045-6E5B-0C65-B072-5B9385044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b="0" i="0">
                <a:latin typeface="Merriweather" pitchFamily="2" charset="77"/>
              </a:defRPr>
            </a:lvl1pPr>
            <a:lvl2pPr>
              <a:defRPr b="0" i="0">
                <a:latin typeface="Merriweather" pitchFamily="2" charset="77"/>
              </a:defRPr>
            </a:lvl2pPr>
            <a:lvl3pPr>
              <a:defRPr b="0" i="0">
                <a:latin typeface="Merriweather" pitchFamily="2" charset="77"/>
              </a:defRPr>
            </a:lvl3pPr>
            <a:lvl4pPr>
              <a:defRPr b="0" i="0">
                <a:latin typeface="Merriweather" pitchFamily="2" charset="77"/>
              </a:defRPr>
            </a:lvl4pPr>
            <a:lvl5pPr>
              <a:defRPr b="0" i="0">
                <a:latin typeface="Merriweather" pitchFamily="2" charset="77"/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335697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D2D4EC5-AA7E-B4B7-8196-12EBB5805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BBA1463-5E61-37E4-02F5-F0AEEF291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5D7F3DB-6753-5B31-D480-9F9C6A76CA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Merriweather" pitchFamily="2" charset="77"/>
              </a:defRPr>
            </a:lvl1pPr>
          </a:lstStyle>
          <a:p>
            <a:endParaRPr lang="nl-NL" dirty="0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492AEA7-30ED-7043-6008-5F68E744E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0" i="0">
                <a:solidFill>
                  <a:schemeClr val="tx1">
                    <a:tint val="75000"/>
                  </a:schemeClr>
                </a:solidFill>
                <a:latin typeface="Merriweather" pitchFamily="2" charset="77"/>
              </a:defRPr>
            </a:lvl1pPr>
          </a:lstStyle>
          <a:p>
            <a:r>
              <a:rPr lang="nl-NL"/>
              <a:t>Hier staat de titel van de presentatie</a:t>
            </a:r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0FA7254-9BBF-1B83-48BF-721B417A0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tx1">
                    <a:tint val="75000"/>
                  </a:schemeClr>
                </a:solidFill>
                <a:latin typeface="Merriweather" pitchFamily="2" charset="77"/>
              </a:defRPr>
            </a:lvl1pPr>
          </a:lstStyle>
          <a:p>
            <a:fld id="{63A6096C-3B80-FF40-9992-21B857607083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1071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80" r:id="rId2"/>
    <p:sldLayoutId id="2147483688" r:id="rId3"/>
    <p:sldLayoutId id="2147483689" r:id="rId4"/>
    <p:sldLayoutId id="2147483649" r:id="rId5"/>
    <p:sldLayoutId id="2147483660" r:id="rId6"/>
    <p:sldLayoutId id="2147483696" r:id="rId7"/>
    <p:sldLayoutId id="2147483697" r:id="rId8"/>
    <p:sldLayoutId id="2147483673" r:id="rId9"/>
    <p:sldLayoutId id="2147483682" r:id="rId10"/>
    <p:sldLayoutId id="2147483665" r:id="rId11"/>
    <p:sldLayoutId id="2147483694" r:id="rId12"/>
    <p:sldLayoutId id="2147483695" r:id="rId13"/>
    <p:sldLayoutId id="2147483666" r:id="rId14"/>
    <p:sldLayoutId id="2147483676" r:id="rId15"/>
    <p:sldLayoutId id="2147483671" r:id="rId16"/>
    <p:sldLayoutId id="2147483698" r:id="rId17"/>
    <p:sldLayoutId id="2147483678" r:id="rId18"/>
    <p:sldLayoutId id="2147483669" r:id="rId19"/>
    <p:sldLayoutId id="2147483670" r:id="rId20"/>
    <p:sldLayoutId id="2147483685" r:id="rId21"/>
    <p:sldLayoutId id="2147483684" r:id="rId22"/>
    <p:sldLayoutId id="2147483686" r:id="rId23"/>
    <p:sldLayoutId id="2147483683" r:id="rId24"/>
    <p:sldLayoutId id="2147483691" r:id="rId25"/>
    <p:sldLayoutId id="2147483690" r:id="rId26"/>
    <p:sldLayoutId id="2147483675" r:id="rId27"/>
    <p:sldLayoutId id="2147483677" r:id="rId2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rgbClr val="001158"/>
          </a:solidFill>
          <a:latin typeface="Merriweather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01158"/>
          </a:solidFill>
          <a:latin typeface="Merriweather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6658BE3-A87E-9344-ABAF-052D4FDB01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Niels Versteeg, Yanick Palmers, Group 7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8067BE-4674-5BBE-BEC4-A9269BF16B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Enhancing City-Scale Road Extraction via Diffusion-Based Inpainting</a:t>
            </a:r>
          </a:p>
        </p:txBody>
      </p:sp>
    </p:spTree>
    <p:extLst>
      <p:ext uri="{BB962C8B-B14F-4D97-AF65-F5344CB8AC3E}">
        <p14:creationId xmlns:p14="http://schemas.microsoft.com/office/powerpoint/2010/main" val="188644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B1EF-3DD1-3F49-8B7D-02E1E61F1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Context, Cresi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461C58-3D44-0302-5AC9-0CFBFC5405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Extracts road networks from satellite imagery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Estimates travel times and speed limits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Resnet34 + U-Net</a:t>
            </a:r>
          </a:p>
        </p:txBody>
      </p:sp>
      <p:pic>
        <p:nvPicPr>
          <p:cNvPr id="6" name="Picture Placeholder 5" descr="A collage of images of a map&#10;&#10;AI-generated content may be incorrect.">
            <a:extLst>
              <a:ext uri="{FF2B5EF4-FFF2-40B4-BE49-F238E27FC236}">
                <a16:creationId xmlns:a16="http://schemas.microsoft.com/office/drawing/2014/main" id="{F194123F-EC2D-C70C-4F2D-3CF00782B97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911" r="911"/>
          <a:stretch/>
        </p:blipFill>
        <p:spPr>
          <a:custGeom>
            <a:avLst/>
            <a:gdLst>
              <a:gd name="connsiteX0" fmla="*/ 441972 w 3648853"/>
              <a:gd name="connsiteY0" fmla="*/ 0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3183 w 3648853"/>
              <a:gd name="connsiteY7" fmla="*/ 0 h 6864136"/>
              <a:gd name="connsiteX8" fmla="*/ 3059596 w 3648853"/>
              <a:gd name="connsiteY8" fmla="*/ 6137 h 6864136"/>
              <a:gd name="connsiteX9" fmla="*/ 3210064 w 3648853"/>
              <a:gd name="connsiteY9" fmla="*/ 6864136 h 6864136"/>
              <a:gd name="connsiteX10" fmla="*/ 0 w 3648853"/>
              <a:gd name="connsiteY10" fmla="*/ 685800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441972 w 3648853"/>
              <a:gd name="connsiteY6" fmla="*/ 863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183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183 w 3648853"/>
              <a:gd name="connsiteY12" fmla="*/ 0 h 6864136"/>
              <a:gd name="connsiteX0" fmla="*/ 785639 w 3648853"/>
              <a:gd name="connsiteY0" fmla="*/ 6137 h 6864136"/>
              <a:gd name="connsiteX1" fmla="*/ 3498385 w 3648853"/>
              <a:gd name="connsiteY1" fmla="*/ 6137 h 6864136"/>
              <a:gd name="connsiteX2" fmla="*/ 3648853 w 3648853"/>
              <a:gd name="connsiteY2" fmla="*/ 6864136 h 6864136"/>
              <a:gd name="connsiteX3" fmla="*/ 3218776 w 3648853"/>
              <a:gd name="connsiteY3" fmla="*/ 6863314 h 6864136"/>
              <a:gd name="connsiteX4" fmla="*/ 3052637 w 3648853"/>
              <a:gd name="connsiteY4" fmla="*/ 6586111 h 6864136"/>
              <a:gd name="connsiteX5" fmla="*/ 3068801 w 3648853"/>
              <a:gd name="connsiteY5" fmla="*/ 6137 h 6864136"/>
              <a:gd name="connsiteX6" fmla="*/ 669038 w 3648853"/>
              <a:gd name="connsiteY6" fmla="*/ 13137 h 6864136"/>
              <a:gd name="connsiteX7" fmla="*/ 785639 w 3648853"/>
              <a:gd name="connsiteY7" fmla="*/ 6137 h 6864136"/>
              <a:gd name="connsiteX8" fmla="*/ 371398 w 3648853"/>
              <a:gd name="connsiteY8" fmla="*/ 0 h 6864136"/>
              <a:gd name="connsiteX9" fmla="*/ 3059596 w 3648853"/>
              <a:gd name="connsiteY9" fmla="*/ 6137 h 6864136"/>
              <a:gd name="connsiteX10" fmla="*/ 3210064 w 3648853"/>
              <a:gd name="connsiteY10" fmla="*/ 6864136 h 6864136"/>
              <a:gd name="connsiteX11" fmla="*/ 0 w 3648853"/>
              <a:gd name="connsiteY11" fmla="*/ 6858000 h 6864136"/>
              <a:gd name="connsiteX12" fmla="*/ 371398 w 3648853"/>
              <a:gd name="connsiteY12" fmla="*/ 0 h 6864136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87999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87999 w 3648853"/>
              <a:gd name="connsiteY12" fmla="*/ 6137 h 6857999"/>
              <a:gd name="connsiteX0" fmla="*/ 785639 w 3648853"/>
              <a:gd name="connsiteY0" fmla="*/ 0 h 6857999"/>
              <a:gd name="connsiteX1" fmla="*/ 3498385 w 3648853"/>
              <a:gd name="connsiteY1" fmla="*/ 0 h 6857999"/>
              <a:gd name="connsiteX2" fmla="*/ 3648853 w 3648853"/>
              <a:gd name="connsiteY2" fmla="*/ 6857999 h 6857999"/>
              <a:gd name="connsiteX3" fmla="*/ 3218776 w 3648853"/>
              <a:gd name="connsiteY3" fmla="*/ 6857177 h 6857999"/>
              <a:gd name="connsiteX4" fmla="*/ 3052637 w 3648853"/>
              <a:gd name="connsiteY4" fmla="*/ 6579974 h 6857999"/>
              <a:gd name="connsiteX5" fmla="*/ 3068801 w 3648853"/>
              <a:gd name="connsiteY5" fmla="*/ 0 h 6857999"/>
              <a:gd name="connsiteX6" fmla="*/ 669038 w 3648853"/>
              <a:gd name="connsiteY6" fmla="*/ 7000 h 6857999"/>
              <a:gd name="connsiteX7" fmla="*/ 785639 w 3648853"/>
              <a:gd name="connsiteY7" fmla="*/ 0 h 6857999"/>
              <a:gd name="connsiteX8" fmla="*/ 438904 w 3648853"/>
              <a:gd name="connsiteY8" fmla="*/ 6137 h 6857999"/>
              <a:gd name="connsiteX9" fmla="*/ 3059596 w 3648853"/>
              <a:gd name="connsiteY9" fmla="*/ 0 h 6857999"/>
              <a:gd name="connsiteX10" fmla="*/ 3210064 w 3648853"/>
              <a:gd name="connsiteY10" fmla="*/ 6857999 h 6857999"/>
              <a:gd name="connsiteX11" fmla="*/ 0 w 3648853"/>
              <a:gd name="connsiteY11" fmla="*/ 6851863 h 6857999"/>
              <a:gd name="connsiteX12" fmla="*/ 438904 w 3648853"/>
              <a:gd name="connsiteY12" fmla="*/ 6137 h 6857999"/>
              <a:gd name="connsiteX0" fmla="*/ 346735 w 3209949"/>
              <a:gd name="connsiteY0" fmla="*/ 0 h 6857999"/>
              <a:gd name="connsiteX1" fmla="*/ 3059481 w 3209949"/>
              <a:gd name="connsiteY1" fmla="*/ 0 h 6857999"/>
              <a:gd name="connsiteX2" fmla="*/ 3209949 w 3209949"/>
              <a:gd name="connsiteY2" fmla="*/ 6857999 h 6857999"/>
              <a:gd name="connsiteX3" fmla="*/ 2779872 w 3209949"/>
              <a:gd name="connsiteY3" fmla="*/ 6857177 h 6857999"/>
              <a:gd name="connsiteX4" fmla="*/ 2613733 w 3209949"/>
              <a:gd name="connsiteY4" fmla="*/ 6579974 h 6857999"/>
              <a:gd name="connsiteX5" fmla="*/ 2629897 w 3209949"/>
              <a:gd name="connsiteY5" fmla="*/ 0 h 6857999"/>
              <a:gd name="connsiteX6" fmla="*/ 230134 w 3209949"/>
              <a:gd name="connsiteY6" fmla="*/ 7000 h 6857999"/>
              <a:gd name="connsiteX7" fmla="*/ 346735 w 3209949"/>
              <a:gd name="connsiteY7" fmla="*/ 0 h 6857999"/>
              <a:gd name="connsiteX8" fmla="*/ 0 w 3209949"/>
              <a:gd name="connsiteY8" fmla="*/ 6137 h 6857999"/>
              <a:gd name="connsiteX9" fmla="*/ 2620692 w 3209949"/>
              <a:gd name="connsiteY9" fmla="*/ 0 h 6857999"/>
              <a:gd name="connsiteX10" fmla="*/ 2771160 w 3209949"/>
              <a:gd name="connsiteY10" fmla="*/ 6857999 h 6857999"/>
              <a:gd name="connsiteX11" fmla="*/ 2954 w 3209949"/>
              <a:gd name="connsiteY11" fmla="*/ 6845726 h 6857999"/>
              <a:gd name="connsiteX12" fmla="*/ 0 w 3209949"/>
              <a:gd name="connsiteY12" fmla="*/ 6137 h 6857999"/>
              <a:gd name="connsiteX0" fmla="*/ 346735 w 3209949"/>
              <a:gd name="connsiteY0" fmla="*/ 0 h 6864137"/>
              <a:gd name="connsiteX1" fmla="*/ 3059481 w 3209949"/>
              <a:gd name="connsiteY1" fmla="*/ 0 h 6864137"/>
              <a:gd name="connsiteX2" fmla="*/ 3209949 w 3209949"/>
              <a:gd name="connsiteY2" fmla="*/ 6857999 h 6864137"/>
              <a:gd name="connsiteX3" fmla="*/ 2779872 w 3209949"/>
              <a:gd name="connsiteY3" fmla="*/ 6857177 h 6864137"/>
              <a:gd name="connsiteX4" fmla="*/ 2613733 w 3209949"/>
              <a:gd name="connsiteY4" fmla="*/ 6579974 h 6864137"/>
              <a:gd name="connsiteX5" fmla="*/ 2629897 w 3209949"/>
              <a:gd name="connsiteY5" fmla="*/ 0 h 6864137"/>
              <a:gd name="connsiteX6" fmla="*/ 230134 w 3209949"/>
              <a:gd name="connsiteY6" fmla="*/ 7000 h 6864137"/>
              <a:gd name="connsiteX7" fmla="*/ 346735 w 3209949"/>
              <a:gd name="connsiteY7" fmla="*/ 0 h 6864137"/>
              <a:gd name="connsiteX8" fmla="*/ 0 w 3209949"/>
              <a:gd name="connsiteY8" fmla="*/ 6137 h 6864137"/>
              <a:gd name="connsiteX9" fmla="*/ 2620692 w 3209949"/>
              <a:gd name="connsiteY9" fmla="*/ 0 h 6864137"/>
              <a:gd name="connsiteX10" fmla="*/ 2771160 w 3209949"/>
              <a:gd name="connsiteY10" fmla="*/ 6857999 h 6864137"/>
              <a:gd name="connsiteX11" fmla="*/ 2954 w 3209949"/>
              <a:gd name="connsiteY11" fmla="*/ 6864137 h 6864137"/>
              <a:gd name="connsiteX12" fmla="*/ 0 w 3209949"/>
              <a:gd name="connsiteY12" fmla="*/ 6137 h 6864137"/>
              <a:gd name="connsiteX0" fmla="*/ 3255632 w 6118846"/>
              <a:gd name="connsiteY0" fmla="*/ 0 h 6864137"/>
              <a:gd name="connsiteX1" fmla="*/ 5968378 w 6118846"/>
              <a:gd name="connsiteY1" fmla="*/ 0 h 6864137"/>
              <a:gd name="connsiteX2" fmla="*/ 6118846 w 6118846"/>
              <a:gd name="connsiteY2" fmla="*/ 6857999 h 6864137"/>
              <a:gd name="connsiteX3" fmla="*/ 5688769 w 6118846"/>
              <a:gd name="connsiteY3" fmla="*/ 6857177 h 6864137"/>
              <a:gd name="connsiteX4" fmla="*/ 5522630 w 6118846"/>
              <a:gd name="connsiteY4" fmla="*/ 6579974 h 6864137"/>
              <a:gd name="connsiteX5" fmla="*/ 5538794 w 6118846"/>
              <a:gd name="connsiteY5" fmla="*/ 0 h 6864137"/>
              <a:gd name="connsiteX6" fmla="*/ 3139031 w 6118846"/>
              <a:gd name="connsiteY6" fmla="*/ 7000 h 6864137"/>
              <a:gd name="connsiteX7" fmla="*/ 3255632 w 6118846"/>
              <a:gd name="connsiteY7" fmla="*/ 0 h 6864137"/>
              <a:gd name="connsiteX8" fmla="*/ 0 w 6118846"/>
              <a:gd name="connsiteY8" fmla="*/ 0 h 6864137"/>
              <a:gd name="connsiteX9" fmla="*/ 5529589 w 6118846"/>
              <a:gd name="connsiteY9" fmla="*/ 0 h 6864137"/>
              <a:gd name="connsiteX10" fmla="*/ 5680057 w 6118846"/>
              <a:gd name="connsiteY10" fmla="*/ 6857999 h 6864137"/>
              <a:gd name="connsiteX11" fmla="*/ 2911851 w 6118846"/>
              <a:gd name="connsiteY11" fmla="*/ 6864137 h 6864137"/>
              <a:gd name="connsiteX12" fmla="*/ 0 w 6118846"/>
              <a:gd name="connsiteY12" fmla="*/ 0 h 6864137"/>
              <a:gd name="connsiteX0" fmla="*/ 3255632 w 6118846"/>
              <a:gd name="connsiteY0" fmla="*/ 0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255632 w 6118846"/>
              <a:gd name="connsiteY7" fmla="*/ 0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  <a:gd name="connsiteX0" fmla="*/ 3452013 w 6118846"/>
              <a:gd name="connsiteY0" fmla="*/ 6137 h 6870273"/>
              <a:gd name="connsiteX1" fmla="*/ 5968378 w 6118846"/>
              <a:gd name="connsiteY1" fmla="*/ 0 h 6870273"/>
              <a:gd name="connsiteX2" fmla="*/ 6118846 w 6118846"/>
              <a:gd name="connsiteY2" fmla="*/ 6857999 h 6870273"/>
              <a:gd name="connsiteX3" fmla="*/ 5688769 w 6118846"/>
              <a:gd name="connsiteY3" fmla="*/ 6857177 h 6870273"/>
              <a:gd name="connsiteX4" fmla="*/ 5522630 w 6118846"/>
              <a:gd name="connsiteY4" fmla="*/ 6579974 h 6870273"/>
              <a:gd name="connsiteX5" fmla="*/ 5538794 w 6118846"/>
              <a:gd name="connsiteY5" fmla="*/ 0 h 6870273"/>
              <a:gd name="connsiteX6" fmla="*/ 3139031 w 6118846"/>
              <a:gd name="connsiteY6" fmla="*/ 7000 h 6870273"/>
              <a:gd name="connsiteX7" fmla="*/ 3452013 w 6118846"/>
              <a:gd name="connsiteY7" fmla="*/ 6137 h 6870273"/>
              <a:gd name="connsiteX8" fmla="*/ 0 w 6118846"/>
              <a:gd name="connsiteY8" fmla="*/ 0 h 6870273"/>
              <a:gd name="connsiteX9" fmla="*/ 5529589 w 6118846"/>
              <a:gd name="connsiteY9" fmla="*/ 0 h 6870273"/>
              <a:gd name="connsiteX10" fmla="*/ 5680057 w 6118846"/>
              <a:gd name="connsiteY10" fmla="*/ 6857999 h 6870273"/>
              <a:gd name="connsiteX11" fmla="*/ 21365 w 6118846"/>
              <a:gd name="connsiteY11" fmla="*/ 6870273 h 6870273"/>
              <a:gd name="connsiteX12" fmla="*/ 0 w 6118846"/>
              <a:gd name="connsiteY12" fmla="*/ 0 h 6870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18846" h="6870273">
                <a:moveTo>
                  <a:pt x="3452013" y="6137"/>
                </a:moveTo>
                <a:lnTo>
                  <a:pt x="5968378" y="0"/>
                </a:lnTo>
                <a:cubicBezTo>
                  <a:pt x="5275968" y="1144534"/>
                  <a:pt x="4252164" y="3884665"/>
                  <a:pt x="6118846" y="6857999"/>
                </a:cubicBezTo>
                <a:lnTo>
                  <a:pt x="5688769" y="6857177"/>
                </a:lnTo>
                <a:lnTo>
                  <a:pt x="5522630" y="6579974"/>
                </a:lnTo>
                <a:cubicBezTo>
                  <a:pt x="3886244" y="3714965"/>
                  <a:pt x="4868022" y="1108768"/>
                  <a:pt x="5538794" y="0"/>
                </a:cubicBezTo>
                <a:lnTo>
                  <a:pt x="3139031" y="7000"/>
                </a:lnTo>
                <a:cubicBezTo>
                  <a:pt x="3139031" y="6712"/>
                  <a:pt x="3452013" y="6425"/>
                  <a:pt x="3452013" y="6137"/>
                </a:cubicBezTo>
                <a:close/>
                <a:moveTo>
                  <a:pt x="0" y="0"/>
                </a:moveTo>
                <a:lnTo>
                  <a:pt x="5529589" y="0"/>
                </a:lnTo>
                <a:cubicBezTo>
                  <a:pt x="4837179" y="1144534"/>
                  <a:pt x="3813375" y="3884665"/>
                  <a:pt x="5680057" y="6857999"/>
                </a:cubicBezTo>
                <a:lnTo>
                  <a:pt x="21365" y="6870273"/>
                </a:lnTo>
                <a:cubicBezTo>
                  <a:pt x="20380" y="4590410"/>
                  <a:pt x="985" y="2279863"/>
                  <a:pt x="0" y="0"/>
                </a:cubicBezTo>
                <a:close/>
              </a:path>
            </a:pathLst>
          </a:custGeom>
          <a:solidFill>
            <a:prstClr val="white"/>
          </a:solidFill>
        </p:spPr>
      </p:pic>
    </p:spTree>
    <p:extLst>
      <p:ext uri="{BB962C8B-B14F-4D97-AF65-F5344CB8AC3E}">
        <p14:creationId xmlns:p14="http://schemas.microsoft.com/office/powerpoint/2010/main" val="1333706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E96D8E-456F-7A98-5F4E-2953E27247D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5C403BA-5397-5055-99FC-53CD7BC5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671381-BF75-072A-03B5-B713A5756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Problem:</a:t>
            </a:r>
            <a:r>
              <a:rPr lang="en-US" dirty="0"/>
              <a:t> The "Perfect Image" Assumption</a:t>
            </a:r>
          </a:p>
          <a:p>
            <a:r>
              <a:rPr lang="en-US" dirty="0"/>
              <a:t>CRESIv2 performs well on clear imagery but struggles with </a:t>
            </a:r>
            <a:r>
              <a:rPr lang="en-US" b="1" dirty="0"/>
              <a:t>occlusions</a:t>
            </a:r>
            <a:r>
              <a:rPr lang="en-US" dirty="0"/>
              <a:t>: clouds, dense tree canopies, and building shadows</a:t>
            </a:r>
          </a:p>
        </p:txBody>
      </p:sp>
      <p:pic>
        <p:nvPicPr>
          <p:cNvPr id="11" name="Picture Placeholder 10" descr="A collage of a river and a building&#10;&#10;AI-generated content may be incorrect.">
            <a:extLst>
              <a:ext uri="{FF2B5EF4-FFF2-40B4-BE49-F238E27FC236}">
                <a16:creationId xmlns:a16="http://schemas.microsoft.com/office/drawing/2014/main" id="{02AF38C8-1391-E32F-3191-6596FE72410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7695" r="7695"/>
          <a:stretch/>
        </p:blipFill>
        <p:spPr>
          <a:xfrm>
            <a:off x="6267832" y="111125"/>
            <a:ext cx="5845791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2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0CBFA-9DC5-7E4E-6366-702EAE80B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Proposal:</a:t>
            </a:r>
            <a:r>
              <a:rPr lang="en-US" dirty="0"/>
              <a:t> Pre-processing via Inpainting.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FA32B6-CD5A-6F54-5B37-2DB9E32D38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01DBF3D-D550-48AB-83BB-30E4C0E85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07086" y="1600285"/>
            <a:ext cx="82211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try to add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inpainting step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prior to the segmentation network.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Reconstruct missing road geometry and texture to "repair" occlusions.</a:t>
            </a:r>
          </a:p>
        </p:txBody>
      </p:sp>
      <p:pic>
        <p:nvPicPr>
          <p:cNvPr id="6" name="Picture 5" descr="A aerial view of a city&#10;&#10;AI-generated content may be incorrect.">
            <a:extLst>
              <a:ext uri="{FF2B5EF4-FFF2-40B4-BE49-F238E27FC236}">
                <a16:creationId xmlns:a16="http://schemas.microsoft.com/office/drawing/2014/main" id="{28FA1075-86D2-A83F-355A-66A670D85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051" y="3047131"/>
            <a:ext cx="3209949" cy="3209949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B7570FA7-DFBE-FE5D-55CB-11E347D56C46}"/>
              </a:ext>
            </a:extLst>
          </p:cNvPr>
          <p:cNvSpPr/>
          <p:nvPr/>
        </p:nvSpPr>
        <p:spPr>
          <a:xfrm>
            <a:off x="6524326" y="4334386"/>
            <a:ext cx="1312231" cy="8061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erial view of a city&#10;&#10;AI-generated content may be incorrect.">
            <a:extLst>
              <a:ext uri="{FF2B5EF4-FFF2-40B4-BE49-F238E27FC236}">
                <a16:creationId xmlns:a16="http://schemas.microsoft.com/office/drawing/2014/main" id="{A127B886-E02D-7D73-5385-2A943A923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850" y="3047132"/>
            <a:ext cx="3209949" cy="320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7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CA154B-0BDE-A811-3671-0A860DE8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096C-3B80-FF40-9992-21B857607083}" type="slidenum">
              <a:rPr lang="nl-NL" smtClean="0"/>
              <a:pPr/>
              <a:t>5</a:t>
            </a:fld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FCF1EB-F3ED-CB25-B879-18ECA64DD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Methodology: The Pipeline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43752-FF57-5477-DA32-36D4C17452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Original:</a:t>
            </a:r>
          </a:p>
          <a:p>
            <a:pPr lvl="1"/>
            <a:r>
              <a:rPr lang="en-US" b="1" dirty="0"/>
              <a:t>Input:</a:t>
            </a:r>
            <a:r>
              <a:rPr lang="en-US" dirty="0"/>
              <a:t> Raw Satellite Image (potentially occluded).</a:t>
            </a:r>
          </a:p>
          <a:p>
            <a:pPr lvl="1"/>
            <a:r>
              <a:rPr lang="en-US" b="1" dirty="0"/>
              <a:t>Segmentation:</a:t>
            </a:r>
            <a:r>
              <a:rPr lang="en-US" dirty="0"/>
              <a:t> Feed image into CRESIv2.</a:t>
            </a:r>
          </a:p>
          <a:p>
            <a:pPr lvl="1"/>
            <a:r>
              <a:rPr lang="en-US" b="1" dirty="0"/>
              <a:t>Graph Extraction:</a:t>
            </a:r>
            <a:r>
              <a:rPr lang="en-US" dirty="0"/>
              <a:t> Extract road speeds and vectors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0F81EF-466E-E93A-C007-224B2A1342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Our proposal</a:t>
            </a:r>
          </a:p>
          <a:p>
            <a:pPr lvl="1"/>
            <a:r>
              <a:rPr lang="en-US" b="1" dirty="0"/>
              <a:t>Input:</a:t>
            </a:r>
            <a:r>
              <a:rPr lang="en-US" dirty="0"/>
              <a:t> Raw Satellite Image (potentially occluded).</a:t>
            </a:r>
          </a:p>
          <a:p>
            <a:pPr lvl="1"/>
            <a:r>
              <a:rPr lang="en-US" b="1" dirty="0"/>
              <a:t>Pre-processing:</a:t>
            </a:r>
            <a:endParaRPr lang="en-US" dirty="0"/>
          </a:p>
          <a:p>
            <a:pPr lvl="2"/>
            <a:r>
              <a:rPr lang="en-US" dirty="0"/>
              <a:t>Identify low-confidence/occluded regions (Mask Predictor).</a:t>
            </a:r>
          </a:p>
          <a:p>
            <a:pPr lvl="2"/>
            <a:r>
              <a:rPr lang="en-US" dirty="0" err="1"/>
              <a:t>Inpaint</a:t>
            </a:r>
            <a:r>
              <a:rPr lang="en-US" dirty="0"/>
              <a:t> using Generative Diffusion Model.</a:t>
            </a:r>
          </a:p>
          <a:p>
            <a:pPr lvl="1"/>
            <a:r>
              <a:rPr lang="en-US" b="1" dirty="0"/>
              <a:t>Segmentation:</a:t>
            </a:r>
            <a:r>
              <a:rPr lang="en-US" dirty="0"/>
              <a:t> Feed cleaned image into original CRESIv2.</a:t>
            </a:r>
          </a:p>
          <a:p>
            <a:pPr lvl="1"/>
            <a:r>
              <a:rPr lang="en-US" b="1" dirty="0"/>
              <a:t>Graph Extraction:</a:t>
            </a:r>
            <a:r>
              <a:rPr lang="en-US" dirty="0"/>
              <a:t> Extract road speeds and vectors</a:t>
            </a:r>
          </a:p>
        </p:txBody>
      </p:sp>
    </p:spTree>
    <p:extLst>
      <p:ext uri="{BB962C8B-B14F-4D97-AF65-F5344CB8AC3E}">
        <p14:creationId xmlns:p14="http://schemas.microsoft.com/office/powerpoint/2010/main" val="2793870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2E945-5686-D32C-E62C-BA250B904B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44694" y="342215"/>
            <a:ext cx="5212800" cy="2305077"/>
          </a:xfrm>
        </p:spPr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dirty="0"/>
              <a:t>cloud masks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1863F2-4434-19E1-D0E8-FAF30B981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1735" y="2839587"/>
            <a:ext cx="5071040" cy="757020"/>
          </a:xfrm>
        </p:spPr>
        <p:txBody>
          <a:bodyPr/>
          <a:lstStyle/>
          <a:p>
            <a:r>
              <a:rPr lang="en-US" dirty="0"/>
              <a:t>RSAM-Seg, a pre-trained cloud segmentation model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0B00DA3-5228-0022-4866-95EB2FD113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 descr="A collage of different images of land&#10;&#10;AI-generated content may be incorrect.">
            <a:extLst>
              <a:ext uri="{FF2B5EF4-FFF2-40B4-BE49-F238E27FC236}">
                <a16:creationId xmlns:a16="http://schemas.microsoft.com/office/drawing/2014/main" id="{CFEACA99-3A03-51E6-403B-89DABB3E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4420"/>
            <a:ext cx="6944694" cy="2610214"/>
          </a:xfrm>
          <a:prstGeom prst="rect">
            <a:avLst/>
          </a:prstGeom>
        </p:spPr>
      </p:pic>
      <p:pic>
        <p:nvPicPr>
          <p:cNvPr id="10" name="Picture 9" descr="A diagram of a block diagram&#10;&#10;AI-generated content may be incorrect.">
            <a:extLst>
              <a:ext uri="{FF2B5EF4-FFF2-40B4-BE49-F238E27FC236}">
                <a16:creationId xmlns:a16="http://schemas.microsoft.com/office/drawing/2014/main" id="{17421F35-1CC0-690C-436B-9149580B9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659" y="1494754"/>
            <a:ext cx="6751735" cy="268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73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7B2D-99F6-D692-F4F9-B8BB684CB3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843351"/>
          </a:xfrm>
        </p:spPr>
        <p:txBody>
          <a:bodyPr/>
          <a:lstStyle/>
          <a:p>
            <a:r>
              <a:rPr lang="en-US" dirty="0"/>
              <a:t>Methodology</a:t>
            </a:r>
            <a:br>
              <a:rPr lang="en-US" dirty="0"/>
            </a:br>
            <a:r>
              <a:rPr lang="en-US" dirty="0"/>
              <a:t>in-painting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3CA511-5B2C-858B-7864-3B8F13B94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8" y="1341833"/>
            <a:ext cx="5212799" cy="7570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1" noProof="0" dirty="0"/>
              <a:t>Current</a:t>
            </a:r>
            <a:r>
              <a:rPr lang="fr-FR" i="1" dirty="0"/>
              <a:t> </a:t>
            </a:r>
            <a:r>
              <a:rPr lang="fr-FR" i="1" dirty="0" err="1"/>
              <a:t>Approach</a:t>
            </a:r>
            <a:r>
              <a:rPr lang="fr-FR" i="1" dirty="0"/>
              <a:t>:</a:t>
            </a:r>
            <a:r>
              <a:rPr lang="fr-FR" dirty="0"/>
              <a:t> </a:t>
            </a:r>
            <a:r>
              <a:rPr lang="fr-FR" b="1" dirty="0" err="1"/>
              <a:t>DiffusionSat</a:t>
            </a:r>
            <a:r>
              <a:rPr lang="fr-FR" dirty="0"/>
              <a:t> (Diffusion Model)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Trained</a:t>
            </a:r>
            <a:r>
              <a:rPr lang="fr-FR" dirty="0"/>
              <a:t> for satellite </a:t>
            </a:r>
            <a:r>
              <a:rPr lang="fr-FR" dirty="0" err="1"/>
              <a:t>imagery</a:t>
            </a: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 err="1"/>
              <a:t>Add</a:t>
            </a:r>
            <a:r>
              <a:rPr lang="fr-FR" dirty="0"/>
              <a:t> image, </a:t>
            </a:r>
            <a:r>
              <a:rPr lang="fr-FR" dirty="0" err="1"/>
              <a:t>mask</a:t>
            </a:r>
            <a:r>
              <a:rPr lang="fr-FR" dirty="0"/>
              <a:t>, and prompt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A88DA8F-2C5F-AB66-A0A0-330832B2957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 descr="A diagram of a stable diffraction&#10;&#10;AI-generated content may be incorrect.">
            <a:extLst>
              <a:ext uri="{FF2B5EF4-FFF2-40B4-BE49-F238E27FC236}">
                <a16:creationId xmlns:a16="http://schemas.microsoft.com/office/drawing/2014/main" id="{168F2E73-49CF-329C-95DD-852C8C3F2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897436"/>
            <a:ext cx="9439977" cy="3855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34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EEE046-4B07-AEBC-D5CD-09CD83FD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096C-3B80-FF40-9992-21B857607083}" type="slidenum">
              <a:rPr lang="nl-NL" smtClean="0"/>
              <a:pPr/>
              <a:t>8</a:t>
            </a:fld>
            <a:endParaRPr lang="nl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D07021F-1F56-7559-602E-3BBB47001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CFDC70-48F8-58BF-E517-9A061B60D1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Diffusion network</a:t>
            </a:r>
          </a:p>
          <a:p>
            <a:pPr lvl="1"/>
            <a:r>
              <a:rPr lang="en-US" dirty="0"/>
              <a:t>Implemented and running</a:t>
            </a:r>
          </a:p>
          <a:p>
            <a:pPr lvl="1"/>
            <a:r>
              <a:rPr lang="en-US" dirty="0"/>
              <a:t>Containerized setup</a:t>
            </a:r>
          </a:p>
          <a:p>
            <a:r>
              <a:rPr lang="en-US" dirty="0"/>
              <a:t>Cloud mask model</a:t>
            </a:r>
          </a:p>
          <a:p>
            <a:pPr lvl="1"/>
            <a:r>
              <a:rPr lang="en-US" dirty="0"/>
              <a:t>Working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9FA764-7D1A-7203-A59E-74C04C96E34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  <a:p>
            <a:pPr lvl="1"/>
            <a:r>
              <a:rPr lang="en-US" dirty="0"/>
              <a:t>Cloud mask output to in-paint model</a:t>
            </a:r>
          </a:p>
          <a:p>
            <a:pPr lvl="1"/>
            <a:r>
              <a:rPr lang="en-US" dirty="0"/>
              <a:t>Feed the output into CresiV2</a:t>
            </a:r>
          </a:p>
          <a:p>
            <a:pPr lvl="1"/>
            <a:r>
              <a:rPr lang="en-US" dirty="0"/>
              <a:t>Analyze performance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38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C1FF82-3DA3-AECE-0D89-B6CEC9B2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6096C-3B80-FF40-9992-21B857607083}" type="slidenum">
              <a:rPr lang="nl-NL" smtClean="0">
                <a:latin typeface="Merriweather" panose="00000500000000000000" pitchFamily="2" charset="0"/>
              </a:rPr>
              <a:pPr/>
              <a:t>9</a:t>
            </a:fld>
            <a:endParaRPr lang="nl-NL" dirty="0">
              <a:latin typeface="Merriweather" panose="00000500000000000000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612F4C3-A477-95F1-3515-F3124EF8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rriweather" panose="00000500000000000000" pitchFamily="2" charset="0"/>
              </a:rPr>
              <a:t>Metrics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347B468-9A91-9984-B6B7-B461086C8D7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172202" y="1717903"/>
            <a:ext cx="548900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Datasets: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Merriweather" panose="00000500000000000000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</a:t>
            </a:r>
            <a:r>
              <a:rPr kumimoji="0" lang="en-US" altLang="en-US" sz="1600" i="0" u="none" strike="noStrike" cap="none" normalizeH="0" baseline="0" dirty="0" err="1">
                <a:ln>
                  <a:noFill/>
                </a:ln>
                <a:effectLst/>
                <a:latin typeface="Merriweather" panose="00000500000000000000" pitchFamily="2" charset="0"/>
              </a:rPr>
              <a:t>SpaceNet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3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loads of satellite images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Comparison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We will compare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Original CRESIv2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vs.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effectLst/>
                <a:latin typeface="Merriweather" panose="00000500000000000000" pitchFamily="2" charset="0"/>
              </a:rPr>
              <a:t>Inpainted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+ CRESIv2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Merriweather" panose="00000500000000000000" pitchFamily="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F7E91A3-5B11-9AFF-1E7C-D8D094BAEC2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38200" y="1671738"/>
            <a:ext cx="525175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Metrics (same as Cresiv2 Paper):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Merriweather" panose="00000500000000000000" pitchFamily="2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APLS (Average Path Length Similarity):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</a:t>
            </a:r>
          </a:p>
          <a:p>
            <a:pPr marL="914400" lvl="2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Measures physical connectivity.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TOPO: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Merriweather" panose="00000500000000000000" pitchFamily="2" charset="0"/>
              </a:rPr>
              <a:t> Measures local graph topology.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Merriweather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16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AC225-6785-C155-FC6C-FF2F83966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73BEF-024A-A30A-58B9-FE4FDADC21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Phase 1 (done)</a:t>
            </a:r>
          </a:p>
          <a:p>
            <a:pPr lvl="1"/>
            <a:r>
              <a:rPr lang="en-US" dirty="0"/>
              <a:t>Literature review, env setup, diffusion model working</a:t>
            </a:r>
          </a:p>
          <a:p>
            <a:r>
              <a:rPr lang="en-US" dirty="0"/>
              <a:t>Phase 2 (doing now)</a:t>
            </a:r>
          </a:p>
          <a:p>
            <a:pPr lvl="1"/>
            <a:r>
              <a:rPr lang="en-US" dirty="0"/>
              <a:t>Add mask predictor</a:t>
            </a:r>
          </a:p>
          <a:p>
            <a:pPr lvl="1"/>
            <a:r>
              <a:rPr lang="en-US" dirty="0"/>
              <a:t>Test in-painting on </a:t>
            </a:r>
            <a:r>
              <a:rPr lang="en-US" dirty="0" err="1"/>
              <a:t>SpaceNet</a:t>
            </a:r>
            <a:r>
              <a:rPr lang="en-US" dirty="0"/>
              <a:t> examples</a:t>
            </a:r>
          </a:p>
          <a:p>
            <a:r>
              <a:rPr lang="en-US" dirty="0"/>
              <a:t>Phase 3 (coming weeks)</a:t>
            </a:r>
          </a:p>
          <a:p>
            <a:pPr lvl="1"/>
            <a:r>
              <a:rPr lang="en-US" dirty="0"/>
              <a:t>Integrate in-paining results to Cresiv2</a:t>
            </a:r>
          </a:p>
          <a:p>
            <a:pPr lvl="1"/>
            <a:r>
              <a:rPr lang="en-US" dirty="0"/>
              <a:t>Run benchmarks</a:t>
            </a:r>
          </a:p>
          <a:p>
            <a:pPr lvl="1"/>
            <a:r>
              <a:rPr lang="en-US" dirty="0"/>
              <a:t>report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BD3C9E-619F-4B07-91A1-614756A67BB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925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368D6-178A-AF8F-24D1-83227C0FB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90318" y="368504"/>
            <a:ext cx="5212800" cy="1225165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B7E30-99D1-AA87-B53B-C6F21211D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318" y="2147261"/>
            <a:ext cx="5212799" cy="75702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Road extraction is difficult with occluded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Remove occlusions from images by in paining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Expected outcome: higher accuracy on predicted road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A1264D2-F8FB-C2F1-F227-6C8AC85F7B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2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32D2427-142C-6D74-ACC4-82B2384BE8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CF5B50-FD01-8BE3-C300-9867D8FA81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1FB9853-A7E4-743F-558C-4078F9FA29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77591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356</Words>
  <Application>Microsoft Office PowerPoint</Application>
  <PresentationFormat>Breedbeeld</PresentationFormat>
  <Paragraphs>68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Aptos</vt:lpstr>
      <vt:lpstr>Arial</vt:lpstr>
      <vt:lpstr>Merriweather</vt:lpstr>
      <vt:lpstr>Vestula Pro</vt:lpstr>
      <vt:lpstr>Kantoorthema</vt:lpstr>
      <vt:lpstr>Enhancing City-Scale Road Extraction via Diffusion-Based Inpainting</vt:lpstr>
      <vt:lpstr>Context, Cresi</vt:lpstr>
      <vt:lpstr>Problem Statement</vt:lpstr>
      <vt:lpstr>Proposal: Pre-processing via Inpainting.</vt:lpstr>
      <vt:lpstr>Methodology: The Pipeline </vt:lpstr>
      <vt:lpstr>Methodology cloud masks</vt:lpstr>
      <vt:lpstr>Methodology in-painting</vt:lpstr>
      <vt:lpstr>Current Progress</vt:lpstr>
      <vt:lpstr>Metrics </vt:lpstr>
      <vt:lpstr>Next steps</vt:lpstr>
      <vt:lpstr>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Creja ontwerpen</dc:creator>
  <cp:lastModifiedBy>Versteeg, N.T. (Niels Versteeg)</cp:lastModifiedBy>
  <cp:revision>50</cp:revision>
  <dcterms:created xsi:type="dcterms:W3CDTF">2024-11-22T12:00:34Z</dcterms:created>
  <dcterms:modified xsi:type="dcterms:W3CDTF">2025-12-10T08:31:09Z</dcterms:modified>
</cp:coreProperties>
</file>